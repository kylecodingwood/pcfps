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A56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463040"/>
            <a:ext cx="7680960" cy="914400"/>
          </a:xfrm>
          <a:prstGeom prst="rect">
            <a:avLst/>
          </a:prstGeom>
          <a:noFill/>
        </p:spPr>
        <p:txBody>
          <a:bodyPr wrap="none">
            <a:spAutoFit/>
          </a:bodyPr>
          <a:lstStyle/>
          <a:p>
            <a:pPr algn="ctr">
              <a:defRPr sz="4000" b="1">
                <a:solidFill>
                  <a:srgbClr val="1A568E"/>
                </a:solidFill>
              </a:defRPr>
            </a:pPr>
            <a:r>
              <a:t>点云数据滤波程序设计</a:t>
            </a:r>
          </a:p>
        </p:txBody>
      </p:sp>
      <p:sp>
        <p:nvSpPr>
          <p:cNvPr id="4" name="TextBox 3"/>
          <p:cNvSpPr txBox="1"/>
          <p:nvPr/>
        </p:nvSpPr>
        <p:spPr>
          <a:xfrm>
            <a:off x="731520" y="2331720"/>
            <a:ext cx="7680960" cy="548640"/>
          </a:xfrm>
          <a:prstGeom prst="rect">
            <a:avLst/>
          </a:prstGeom>
          <a:noFill/>
        </p:spPr>
        <p:txBody>
          <a:bodyPr wrap="none">
            <a:spAutoFit/>
          </a:bodyPr>
          <a:lstStyle/>
          <a:p>
            <a:pPr algn="ctr">
              <a:defRPr sz="2000">
                <a:solidFill>
                  <a:srgbClr val="2E86C1"/>
                </a:solidFill>
              </a:defRPr>
            </a:pPr>
            <a:r>
              <a:t>江西理工大学 · 测绘工程 · 本科毕业设计答辩</a:t>
            </a:r>
          </a:p>
        </p:txBody>
      </p:sp>
      <p:sp>
        <p:nvSpPr>
          <p:cNvPr id="5" name="Rectangle 4"/>
          <p:cNvSpPr/>
          <p:nvPr/>
        </p:nvSpPr>
        <p:spPr>
          <a:xfrm>
            <a:off x="3840480" y="3063240"/>
            <a:ext cx="146304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429000"/>
            <a:ext cx="7680960" cy="1645920"/>
          </a:xfrm>
          <a:prstGeom prst="rect">
            <a:avLst/>
          </a:prstGeom>
          <a:noFill/>
        </p:spPr>
        <p:txBody>
          <a:bodyPr wrap="none">
            <a:spAutoFit/>
          </a:bodyPr>
          <a:lstStyle/>
          <a:p>
            <a:pPr algn="ctr">
              <a:spcAft>
                <a:spcPts val="800"/>
              </a:spcAft>
              <a:defRPr sz="1800">
                <a:solidFill>
                  <a:srgbClr val="2C3E50"/>
                </a:solidFill>
              </a:defRPr>
            </a:pPr>
            <a:r>
              <a:t>答辩人：张钧炀（学号：1220220997）</a:t>
            </a:r>
          </a:p>
          <a:p>
            <a:pPr algn="ctr">
              <a:spcAft>
                <a:spcPts val="800"/>
              </a:spcAft>
              <a:defRPr sz="1800">
                <a:solidFill>
                  <a:srgbClr val="2C3E50"/>
                </a:solidFill>
              </a:defRPr>
            </a:pPr>
            <a:r>
              <a:t>指导老师：敖建锋 副教授</a:t>
            </a:r>
          </a:p>
          <a:p>
            <a:pPr algn="ctr">
              <a:spcAft>
                <a:spcPts val="800"/>
              </a:spcAft>
              <a:defRPr sz="1800">
                <a:solidFill>
                  <a:srgbClr val="2C3E50"/>
                </a:solidFill>
              </a:defRPr>
            </a:pPr>
            <a:r>
              <a:t>答辩时间：2026年5月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A56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77639" y="2286000"/>
            <a:ext cx="1188720"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514600"/>
            <a:ext cx="7315200" cy="731520"/>
          </a:xfrm>
          <a:prstGeom prst="rect">
            <a:avLst/>
          </a:prstGeom>
          <a:noFill/>
        </p:spPr>
        <p:txBody>
          <a:bodyPr wrap="none">
            <a:spAutoFit/>
          </a:bodyPr>
          <a:lstStyle/>
          <a:p>
            <a:pPr algn="ctr">
              <a:defRPr sz="3600" b="1">
                <a:solidFill>
                  <a:srgbClr val="1A568E"/>
                </a:solidFill>
              </a:defRPr>
            </a:pPr>
            <a:r>
              <a:t>汇报目录</a:t>
            </a:r>
          </a:p>
        </p:txBody>
      </p:sp>
      <p:sp>
        <p:nvSpPr>
          <p:cNvPr id="5" name="TextBox 4"/>
          <p:cNvSpPr txBox="1"/>
          <p:nvPr/>
        </p:nvSpPr>
        <p:spPr>
          <a:xfrm>
            <a:off x="914400" y="3246120"/>
            <a:ext cx="7315200" cy="457200"/>
          </a:xfrm>
          <a:prstGeom prst="rect">
            <a:avLst/>
          </a:prstGeom>
          <a:noFill/>
        </p:spPr>
        <p:txBody>
          <a:bodyPr wrap="none">
            <a:spAutoFit/>
          </a:bodyPr>
          <a:lstStyle/>
          <a:p>
            <a:pPr algn="ctr">
              <a:defRPr sz="1600">
                <a:solidFill>
                  <a:srgbClr val="666666"/>
                </a:solidFill>
              </a:defRPr>
            </a:pPr>
            <a:r>
              <a:t>TABLE OF CONTENTS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A56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8138160" cy="502920"/>
          </a:xfrm>
          <a:prstGeom prst="rect">
            <a:avLst/>
          </a:prstGeom>
          <a:noFill/>
        </p:spPr>
        <p:txBody>
          <a:bodyPr wrap="none">
            <a:spAutoFit/>
          </a:bodyPr>
          <a:lstStyle/>
          <a:p>
            <a:pPr>
              <a:defRPr sz="2800" b="1">
                <a:solidFill>
                  <a:srgbClr val="1A568E"/>
                </a:solidFill>
              </a:defRPr>
            </a:pPr>
            <a:r>
              <a:t>汇报目录</a:t>
            </a:r>
          </a:p>
        </p:txBody>
      </p:sp>
      <p:sp>
        <p:nvSpPr>
          <p:cNvPr id="4" name="Rectangle 3"/>
          <p:cNvSpPr/>
          <p:nvPr/>
        </p:nvSpPr>
        <p:spPr>
          <a:xfrm>
            <a:off x="502920" y="777240"/>
            <a:ext cx="8138160" cy="1828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0"/>
            <a:ext cx="8138160" cy="5303520"/>
          </a:xfrm>
          <a:prstGeom prst="rect">
            <a:avLst/>
          </a:prstGeom>
          <a:noFill/>
        </p:spPr>
        <p:txBody>
          <a:bodyPr wrap="square">
            <a:spAutoFit/>
          </a:bodyPr>
          <a:lstStyle/>
          <a:p>
            <a:pPr>
              <a:spcAft>
                <a:spcPts val="1000"/>
              </a:spcAft>
              <a:defRPr sz="2000">
                <a:solidFill>
                  <a:srgbClr val="2C3E50"/>
                </a:solidFill>
              </a:defRPr>
            </a:pPr>
            <a:r>
              <a:t>第一部分：研究背景与意义 — 探讨点云噪声来源及滤波的必要性</a:t>
            </a:r>
          </a:p>
          <a:p>
            <a:pPr>
              <a:spcAft>
                <a:spcPts val="1000"/>
              </a:spcAft>
              <a:defRPr sz="2000">
                <a:solidFill>
                  <a:srgbClr val="2C3E50"/>
                </a:solidFill>
              </a:defRPr>
            </a:pPr>
            <a:r>
              <a:t>第二部分：研究问题与目标 — 提出针对测绘工程的预处理方案</a:t>
            </a:r>
          </a:p>
          <a:p>
            <a:pPr>
              <a:spcAft>
                <a:spcPts val="1000"/>
              </a:spcAft>
              <a:defRPr sz="2000">
                <a:solidFill>
                  <a:srgbClr val="2C3E50"/>
                </a:solidFill>
              </a:defRPr>
            </a:pPr>
            <a:r>
              <a:t>第三部分：核心研究方法 — 详述空间索引、SOR 与 ROR 滤波机制</a:t>
            </a:r>
          </a:p>
          <a:p>
            <a:pPr>
              <a:spcAft>
                <a:spcPts val="1000"/>
              </a:spcAft>
              <a:defRPr sz="2000">
                <a:solidFill>
                  <a:srgbClr val="2C3E50"/>
                </a:solidFill>
              </a:defRPr>
            </a:pPr>
            <a:r>
              <a:t>第四部分：实验结果分析 — 对比分析算法去除率及结构保真度</a:t>
            </a:r>
          </a:p>
          <a:p>
            <a:pPr>
              <a:spcAft>
                <a:spcPts val="1000"/>
              </a:spcAft>
              <a:defRPr sz="2000">
                <a:solidFill>
                  <a:srgbClr val="2C3E50"/>
                </a:solidFill>
              </a:defRPr>
            </a:pPr>
            <a:r>
              <a:t>第五部分：创新总结与展望 — 工程应用价值与未来演进方向</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A56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8138160" cy="502920"/>
          </a:xfrm>
          <a:prstGeom prst="rect">
            <a:avLst/>
          </a:prstGeom>
          <a:noFill/>
        </p:spPr>
        <p:txBody>
          <a:bodyPr wrap="none">
            <a:spAutoFit/>
          </a:bodyPr>
          <a:lstStyle/>
          <a:p>
            <a:pPr>
              <a:defRPr sz="2800" b="1">
                <a:solidFill>
                  <a:srgbClr val="1A568E"/>
                </a:solidFill>
              </a:defRPr>
            </a:pPr>
            <a:r>
              <a:t>研究背景与意义</a:t>
            </a:r>
          </a:p>
        </p:txBody>
      </p:sp>
      <p:sp>
        <p:nvSpPr>
          <p:cNvPr id="4" name="Rectangle 3"/>
          <p:cNvSpPr/>
          <p:nvPr/>
        </p:nvSpPr>
        <p:spPr>
          <a:xfrm>
            <a:off x="502920" y="777240"/>
            <a:ext cx="8138160" cy="1828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51560"/>
            <a:ext cx="4754880" cy="5029200"/>
          </a:xfrm>
          <a:prstGeom prst="rect">
            <a:avLst/>
          </a:prstGeom>
          <a:noFill/>
        </p:spPr>
        <p:txBody>
          <a:bodyPr wrap="square">
            <a:spAutoFit/>
          </a:bodyPr>
          <a:lstStyle/>
          <a:p>
            <a:pPr>
              <a:spcAft>
                <a:spcPts val="1000"/>
              </a:spcAft>
              <a:defRPr sz="1600">
                <a:solidFill>
                  <a:srgbClr val="2C3E50"/>
                </a:solidFill>
              </a:defRPr>
            </a:pPr>
            <a:r>
              <a:t>随着激光雷达（LiDAR）和三维扫描技术的发展，点云数据已成为地形测绘、城市三维建模等领域的核心数据源。</a:t>
            </a:r>
          </a:p>
          <a:p>
            <a:pPr>
              <a:spcAft>
                <a:spcPts val="1000"/>
              </a:spcAft>
              <a:defRPr sz="1600">
                <a:solidFill>
                  <a:srgbClr val="2C3E50"/>
                </a:solidFill>
              </a:defRPr>
            </a:pPr>
            <a:r>
              <a:t>在实际采集过程中，受仪器精度、环境遮挡及物体反射率偏差等影响，原始点云中往往含有大量孤立点和噪声点。</a:t>
            </a:r>
          </a:p>
          <a:p>
            <a:pPr>
              <a:spcAft>
                <a:spcPts val="1000"/>
              </a:spcAft>
              <a:defRPr sz="1600">
                <a:solidFill>
                  <a:srgbClr val="2C3E50"/>
                </a:solidFill>
              </a:defRPr>
            </a:pPr>
            <a:r>
              <a:t>无效的噪声数据会降低点云质量，严重影响后续的点云配准、地物分类以及曲面重构等关键步骤的准确性。</a:t>
            </a:r>
          </a:p>
          <a:p>
            <a:pPr>
              <a:spcAft>
                <a:spcPts val="1000"/>
              </a:spcAft>
              <a:defRPr sz="1600">
                <a:solidFill>
                  <a:srgbClr val="2C3E50"/>
                </a:solidFill>
              </a:defRPr>
            </a:pPr>
            <a:r>
              <a:t>传统滤波方法面临参数敏感、缺乏自动化以及无法高效应对海量点云数据等工程痛点。</a:t>
            </a:r>
          </a:p>
        </p:txBody>
      </p:sp>
      <p:pic>
        <p:nvPicPr>
          <p:cNvPr id="6" name="Picture 5" descr="background_pointcloud.png"/>
          <p:cNvPicPr>
            <a:picLocks noChangeAspect="1"/>
          </p:cNvPicPr>
          <p:nvPr/>
        </p:nvPicPr>
        <p:blipFill>
          <a:blip r:embed="rId2"/>
          <a:stretch>
            <a:fillRect/>
          </a:stretch>
        </p:blipFill>
        <p:spPr>
          <a:xfrm>
            <a:off x="5440680" y="1051560"/>
            <a:ext cx="3200400" cy="475488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A56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8138160" cy="502920"/>
          </a:xfrm>
          <a:prstGeom prst="rect">
            <a:avLst/>
          </a:prstGeom>
          <a:noFill/>
        </p:spPr>
        <p:txBody>
          <a:bodyPr wrap="none">
            <a:spAutoFit/>
          </a:bodyPr>
          <a:lstStyle/>
          <a:p>
            <a:pPr>
              <a:defRPr sz="2800" b="1">
                <a:solidFill>
                  <a:srgbClr val="1A568E"/>
                </a:solidFill>
              </a:defRPr>
            </a:pPr>
            <a:r>
              <a:t>研究目标与核心问题</a:t>
            </a:r>
          </a:p>
        </p:txBody>
      </p:sp>
      <p:sp>
        <p:nvSpPr>
          <p:cNvPr id="4" name="Rectangle 3"/>
          <p:cNvSpPr/>
          <p:nvPr/>
        </p:nvSpPr>
        <p:spPr>
          <a:xfrm>
            <a:off x="502920" y="777240"/>
            <a:ext cx="8138160" cy="1828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143000"/>
            <a:ext cx="2606040" cy="4937760"/>
          </a:xfrm>
          <a:prstGeom prst="roundRect">
            <a:avLst/>
          </a:prstGeom>
          <a:solidFill>
            <a:srgbClr val="FFFFFF"/>
          </a:solidFill>
          <a:ln>
            <a:solidFill>
              <a:srgbClr val="D6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52728"/>
            <a:ext cx="2331720" cy="4754880"/>
          </a:xfrm>
          <a:prstGeom prst="rect">
            <a:avLst/>
          </a:prstGeom>
          <a:noFill/>
        </p:spPr>
        <p:txBody>
          <a:bodyPr wrap="square">
            <a:spAutoFit/>
          </a:bodyPr>
          <a:lstStyle/>
          <a:p>
            <a:pPr>
              <a:spcAft>
                <a:spcPts val="800"/>
              </a:spcAft>
              <a:defRPr sz="1800" b="1">
                <a:solidFill>
                  <a:srgbClr val="1A568E"/>
                </a:solidFill>
              </a:defRPr>
            </a:pPr>
            <a:r>
              <a:t>核心目标</a:t>
            </a:r>
          </a:p>
          <a:p>
            <a:pPr>
              <a:spcAft>
                <a:spcPts val="600"/>
              </a:spcAft>
              <a:defRPr sz="1400">
                <a:solidFill>
                  <a:srgbClr val="2C3E50"/>
                </a:solidFill>
              </a:defRPr>
            </a:pPr>
            <a:r>
              <a:t>从测绘工程应用角度出发，开发一套自动化、参数化的点云滤波预处理程序，解决现有脚本操作不便的问题。</a:t>
            </a:r>
          </a:p>
        </p:txBody>
      </p:sp>
      <p:sp>
        <p:nvSpPr>
          <p:cNvPr id="7" name="Rounded Rectangle 6"/>
          <p:cNvSpPr/>
          <p:nvPr/>
        </p:nvSpPr>
        <p:spPr>
          <a:xfrm>
            <a:off x="3154680" y="1143000"/>
            <a:ext cx="2606040" cy="4937760"/>
          </a:xfrm>
          <a:prstGeom prst="roundRect">
            <a:avLst/>
          </a:prstGeom>
          <a:solidFill>
            <a:srgbClr val="FFFFFF"/>
          </a:solidFill>
          <a:ln>
            <a:solidFill>
              <a:srgbClr val="D6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91840" y="1252728"/>
            <a:ext cx="2331720" cy="4754880"/>
          </a:xfrm>
          <a:prstGeom prst="rect">
            <a:avLst/>
          </a:prstGeom>
          <a:noFill/>
        </p:spPr>
        <p:txBody>
          <a:bodyPr wrap="square">
            <a:spAutoFit/>
          </a:bodyPr>
          <a:lstStyle/>
          <a:p>
            <a:pPr>
              <a:spcAft>
                <a:spcPts val="800"/>
              </a:spcAft>
              <a:defRPr sz="1800" b="1">
                <a:solidFill>
                  <a:srgbClr val="1A568E"/>
                </a:solidFill>
              </a:defRPr>
            </a:pPr>
            <a:r>
              <a:t>算法落地</a:t>
            </a:r>
          </a:p>
          <a:p>
            <a:pPr>
              <a:spcAft>
                <a:spcPts val="600"/>
              </a:spcAft>
              <a:defRPr sz="1400">
                <a:solidFill>
                  <a:srgbClr val="2C3E50"/>
                </a:solidFill>
              </a:defRPr>
            </a:pPr>
            <a:r>
              <a:t>探索并编程实现统计离群滤波（SOR）与半径离群滤波（ROR），通过对比测试寻找最优的噪声剔除方案。</a:t>
            </a:r>
          </a:p>
        </p:txBody>
      </p:sp>
      <p:sp>
        <p:nvSpPr>
          <p:cNvPr id="9" name="Rounded Rectangle 8"/>
          <p:cNvSpPr/>
          <p:nvPr/>
        </p:nvSpPr>
        <p:spPr>
          <a:xfrm>
            <a:off x="5897880" y="1143000"/>
            <a:ext cx="2606040" cy="4937760"/>
          </a:xfrm>
          <a:prstGeom prst="roundRect">
            <a:avLst/>
          </a:prstGeom>
          <a:solidFill>
            <a:srgbClr val="FFFFFF"/>
          </a:solidFill>
          <a:ln>
            <a:solidFill>
              <a:srgbClr val="D6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35040" y="1252728"/>
            <a:ext cx="2331720" cy="4754880"/>
          </a:xfrm>
          <a:prstGeom prst="rect">
            <a:avLst/>
          </a:prstGeom>
          <a:noFill/>
        </p:spPr>
        <p:txBody>
          <a:bodyPr wrap="square">
            <a:spAutoFit/>
          </a:bodyPr>
          <a:lstStyle/>
          <a:p>
            <a:pPr>
              <a:spcAft>
                <a:spcPts val="800"/>
              </a:spcAft>
              <a:defRPr sz="1800" b="1">
                <a:solidFill>
                  <a:srgbClr val="1A568E"/>
                </a:solidFill>
              </a:defRPr>
            </a:pPr>
            <a:r>
              <a:t>海量数据应对</a:t>
            </a:r>
          </a:p>
          <a:p>
            <a:pPr>
              <a:spcAft>
                <a:spcPts val="600"/>
              </a:spcAft>
              <a:defRPr sz="1400">
                <a:solidFill>
                  <a:srgbClr val="2C3E50"/>
                </a:solidFill>
              </a:defRPr>
            </a:pPr>
            <a:r>
              <a:t>引入空间索引树提升查找效率，并通过带有重叠区域的 XY 平面分块策略，解决大文件处理时的内存瓶颈。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A56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8138160" cy="502920"/>
          </a:xfrm>
          <a:prstGeom prst="rect">
            <a:avLst/>
          </a:prstGeom>
          <a:noFill/>
        </p:spPr>
        <p:txBody>
          <a:bodyPr wrap="none">
            <a:spAutoFit/>
          </a:bodyPr>
          <a:lstStyle/>
          <a:p>
            <a:pPr>
              <a:defRPr sz="2800" b="1">
                <a:solidFill>
                  <a:srgbClr val="1A568E"/>
                </a:solidFill>
              </a:defRPr>
            </a:pPr>
            <a:r>
              <a:t>核心机制：空间索引与邻域搜索</a:t>
            </a:r>
          </a:p>
        </p:txBody>
      </p:sp>
      <p:sp>
        <p:nvSpPr>
          <p:cNvPr id="4" name="Rectangle 3"/>
          <p:cNvSpPr/>
          <p:nvPr/>
        </p:nvSpPr>
        <p:spPr>
          <a:xfrm>
            <a:off x="502920" y="777240"/>
            <a:ext cx="8138160" cy="1828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143000"/>
            <a:ext cx="3977639" cy="5029200"/>
          </a:xfrm>
          <a:prstGeom prst="roundRect">
            <a:avLst/>
          </a:prstGeom>
          <a:solidFill>
            <a:srgbClr val="FFFFFF"/>
          </a:solidFill>
          <a:ln>
            <a:solidFill>
              <a:srgbClr val="D6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52728"/>
            <a:ext cx="3703320" cy="4846320"/>
          </a:xfrm>
          <a:prstGeom prst="rect">
            <a:avLst/>
          </a:prstGeom>
          <a:noFill/>
        </p:spPr>
        <p:txBody>
          <a:bodyPr wrap="square">
            <a:spAutoFit/>
          </a:bodyPr>
          <a:lstStyle/>
          <a:p>
            <a:pPr>
              <a:spcAft>
                <a:spcPts val="800"/>
              </a:spcAft>
              <a:defRPr sz="1800" b="1">
                <a:solidFill>
                  <a:srgbClr val="1A568E"/>
                </a:solidFill>
              </a:defRPr>
            </a:pPr>
            <a:r>
              <a:t>KD-Tree（K 维树）</a:t>
            </a:r>
          </a:p>
          <a:p>
            <a:pPr>
              <a:spcAft>
                <a:spcPts val="600"/>
              </a:spcAft>
              <a:defRPr sz="1400">
                <a:solidFill>
                  <a:srgbClr val="2C3E50"/>
                </a:solidFill>
              </a:defRPr>
            </a:pPr>
            <a:r>
              <a:t>基于数据维度方差划分的二叉搜索树结构，可快速排除空间中较远的无关区域。</a:t>
            </a:r>
          </a:p>
          <a:p>
            <a:pPr>
              <a:spcAft>
                <a:spcPts val="600"/>
              </a:spcAft>
              <a:defRPr sz="1400">
                <a:solidFill>
                  <a:srgbClr val="2C3E50"/>
                </a:solidFill>
              </a:defRPr>
            </a:pPr>
            <a:r>
              <a:t>• 按 X、Y、Z 坐标维度依次构建树状索引</a:t>
            </a:r>
          </a:p>
          <a:p>
            <a:pPr>
              <a:spcAft>
                <a:spcPts val="600"/>
              </a:spcAft>
              <a:defRPr sz="1400">
                <a:solidFill>
                  <a:srgbClr val="2C3E50"/>
                </a:solidFill>
              </a:defRPr>
            </a:pPr>
            <a:r>
              <a:t>• 在低维（3D 坐标）中极大加速 K 近邻（K-NN）搜索</a:t>
            </a:r>
          </a:p>
          <a:p>
            <a:pPr>
              <a:spcAft>
                <a:spcPts val="600"/>
              </a:spcAft>
              <a:defRPr sz="1400">
                <a:solidFill>
                  <a:srgbClr val="2C3E50"/>
                </a:solidFill>
              </a:defRPr>
            </a:pPr>
            <a:r>
              <a:t>• 本程序中主要用于加速 SOR 统计离群点滤波的距离计算</a:t>
            </a:r>
          </a:p>
        </p:txBody>
      </p:sp>
      <p:sp>
        <p:nvSpPr>
          <p:cNvPr id="7" name="Rounded Rectangle 6"/>
          <p:cNvSpPr/>
          <p:nvPr/>
        </p:nvSpPr>
        <p:spPr>
          <a:xfrm>
            <a:off x="4709160" y="1143000"/>
            <a:ext cx="3977639" cy="5029200"/>
          </a:xfrm>
          <a:prstGeom prst="roundRect">
            <a:avLst/>
          </a:prstGeom>
          <a:solidFill>
            <a:srgbClr val="FFFFFF"/>
          </a:solidFill>
          <a:ln>
            <a:solidFill>
              <a:srgbClr val="D6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46320" y="1252728"/>
            <a:ext cx="3703320" cy="4846320"/>
          </a:xfrm>
          <a:prstGeom prst="rect">
            <a:avLst/>
          </a:prstGeom>
          <a:noFill/>
        </p:spPr>
        <p:txBody>
          <a:bodyPr wrap="square">
            <a:spAutoFit/>
          </a:bodyPr>
          <a:lstStyle/>
          <a:p>
            <a:pPr>
              <a:spcAft>
                <a:spcPts val="800"/>
              </a:spcAft>
              <a:defRPr sz="1800" b="1">
                <a:solidFill>
                  <a:srgbClr val="1A568E"/>
                </a:solidFill>
              </a:defRPr>
            </a:pPr>
            <a:r>
              <a:t>Ball Tree（球树）</a:t>
            </a:r>
          </a:p>
          <a:p>
            <a:pPr>
              <a:spcAft>
                <a:spcPts val="600"/>
              </a:spcAft>
              <a:defRPr sz="1400">
                <a:solidFill>
                  <a:srgbClr val="2C3E50"/>
                </a:solidFill>
              </a:defRPr>
            </a:pPr>
            <a:r>
              <a:t>使用多维超球体划分空间结构，查询时基于中心距离与半径的距离下界进行节点剪枝。</a:t>
            </a:r>
          </a:p>
          <a:p>
            <a:pPr>
              <a:spcAft>
                <a:spcPts val="600"/>
              </a:spcAft>
              <a:defRPr sz="1400">
                <a:solidFill>
                  <a:srgbClr val="2C3E50"/>
                </a:solidFill>
              </a:defRPr>
            </a:pPr>
            <a:r>
              <a:t>• 克服 KD-Tree 在高维或复杂密度分布下的性能退化</a:t>
            </a:r>
          </a:p>
          <a:p>
            <a:pPr>
              <a:spcAft>
                <a:spcPts val="600"/>
              </a:spcAft>
              <a:defRPr sz="1400">
                <a:solidFill>
                  <a:srgbClr val="2C3E50"/>
                </a:solidFill>
              </a:defRPr>
            </a:pPr>
            <a:r>
              <a:t>• 对基于固定半径的邻域查询具有效率优势</a:t>
            </a:r>
          </a:p>
          <a:p>
            <a:pPr>
              <a:spcAft>
                <a:spcPts val="600"/>
              </a:spcAft>
              <a:defRPr sz="1400">
                <a:solidFill>
                  <a:srgbClr val="2C3E50"/>
                </a:solidFill>
              </a:defRPr>
            </a:pPr>
            <a:r>
              <a:t>• 本程序中重点辅助 ROR 半径离群点滤波及密度聚类算法</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A56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8138160" cy="502920"/>
          </a:xfrm>
          <a:prstGeom prst="rect">
            <a:avLst/>
          </a:prstGeom>
          <a:noFill/>
        </p:spPr>
        <p:txBody>
          <a:bodyPr wrap="none">
            <a:spAutoFit/>
          </a:bodyPr>
          <a:lstStyle/>
          <a:p>
            <a:pPr>
              <a:defRPr sz="2800" b="1">
                <a:solidFill>
                  <a:srgbClr val="1A568E"/>
                </a:solidFill>
              </a:defRPr>
            </a:pPr>
            <a:r>
              <a:t>算法一：统计离群点滤波（SOR）</a:t>
            </a:r>
          </a:p>
        </p:txBody>
      </p:sp>
      <p:sp>
        <p:nvSpPr>
          <p:cNvPr id="4" name="Rectangle 3"/>
          <p:cNvSpPr/>
          <p:nvPr/>
        </p:nvSpPr>
        <p:spPr>
          <a:xfrm>
            <a:off x="502920" y="777240"/>
            <a:ext cx="8138160" cy="1828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51560"/>
            <a:ext cx="4572000" cy="5029200"/>
          </a:xfrm>
          <a:prstGeom prst="rect">
            <a:avLst/>
          </a:prstGeom>
          <a:noFill/>
        </p:spPr>
        <p:txBody>
          <a:bodyPr wrap="square">
            <a:spAutoFit/>
          </a:bodyPr>
          <a:lstStyle/>
          <a:p>
            <a:pPr>
              <a:spcAft>
                <a:spcPts val="1000"/>
              </a:spcAft>
              <a:defRPr sz="1500">
                <a:solidFill>
                  <a:srgbClr val="2C3E50"/>
                </a:solidFill>
              </a:defRPr>
            </a:pPr>
            <a:r>
              <a:t>基本原理：假设正常点云的局部距离服从高斯分布，根据各点与其 K 个近邻点的平均距离进行统计判定。</a:t>
            </a:r>
          </a:p>
          <a:p>
            <a:pPr>
              <a:spcAft>
                <a:spcPts val="1000"/>
              </a:spcAft>
              <a:defRPr sz="1500">
                <a:solidFill>
                  <a:srgbClr val="2C3E50"/>
                </a:solidFill>
              </a:defRPr>
            </a:pPr>
            <a:r>
              <a:t>公式：dᵢ = (1/k) Σⱼ₌₁ᵏ ‖pᵢ − pᵢⱼ‖₂</a:t>
            </a:r>
          </a:p>
          <a:p>
            <a:pPr>
              <a:spcAft>
                <a:spcPts val="1000"/>
              </a:spcAft>
              <a:defRPr sz="1500">
                <a:solidFill>
                  <a:srgbClr val="2C3E50"/>
                </a:solidFill>
              </a:defRPr>
            </a:pPr>
            <a:r>
              <a:t>判断准则：计算全体数据的均值 μ 和标准差 σ。若 dᵢ &gt; μ + ασ，则判定并剔除该离群点。</a:t>
            </a:r>
          </a:p>
          <a:p>
            <a:pPr>
              <a:spcAft>
                <a:spcPts val="1000"/>
              </a:spcAft>
              <a:defRPr sz="1500">
                <a:solidFill>
                  <a:srgbClr val="2C3E50"/>
                </a:solidFill>
              </a:defRPr>
            </a:pPr>
            <a:r>
              <a:t>算法特点：对全局范围内的随机噪声具有强大的鲁棒性，能极好地保持整体结构连贯性。</a:t>
            </a:r>
          </a:p>
        </p:txBody>
      </p:sp>
      <p:pic>
        <p:nvPicPr>
          <p:cNvPr id="6" name="Picture 5" descr="sor_compare.png"/>
          <p:cNvPicPr>
            <a:picLocks noChangeAspect="1"/>
          </p:cNvPicPr>
          <p:nvPr/>
        </p:nvPicPr>
        <p:blipFill>
          <a:blip r:embed="rId2"/>
          <a:stretch>
            <a:fillRect/>
          </a:stretch>
        </p:blipFill>
        <p:spPr>
          <a:xfrm>
            <a:off x="5257800" y="1051560"/>
            <a:ext cx="3383280" cy="475488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A56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8138160" cy="502920"/>
          </a:xfrm>
          <a:prstGeom prst="rect">
            <a:avLst/>
          </a:prstGeom>
          <a:noFill/>
        </p:spPr>
        <p:txBody>
          <a:bodyPr wrap="none">
            <a:spAutoFit/>
          </a:bodyPr>
          <a:lstStyle/>
          <a:p>
            <a:pPr>
              <a:defRPr sz="2800" b="1">
                <a:solidFill>
                  <a:srgbClr val="1A568E"/>
                </a:solidFill>
              </a:defRPr>
            </a:pPr>
            <a:r>
              <a:t>算法二：半径离群点滤波（ROR）</a:t>
            </a:r>
          </a:p>
        </p:txBody>
      </p:sp>
      <p:sp>
        <p:nvSpPr>
          <p:cNvPr id="4" name="Rectangle 3"/>
          <p:cNvSpPr/>
          <p:nvPr/>
        </p:nvSpPr>
        <p:spPr>
          <a:xfrm>
            <a:off x="502920" y="777240"/>
            <a:ext cx="8138160" cy="1828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51560"/>
            <a:ext cx="4572000" cy="5029200"/>
          </a:xfrm>
          <a:prstGeom prst="rect">
            <a:avLst/>
          </a:prstGeom>
          <a:noFill/>
        </p:spPr>
        <p:txBody>
          <a:bodyPr wrap="square">
            <a:spAutoFit/>
          </a:bodyPr>
          <a:lstStyle/>
          <a:p>
            <a:pPr>
              <a:spcAft>
                <a:spcPts val="1000"/>
              </a:spcAft>
              <a:defRPr sz="1500">
                <a:solidFill>
                  <a:srgbClr val="2C3E50"/>
                </a:solidFill>
              </a:defRPr>
            </a:pPr>
            <a:r>
              <a:t>基于密度的局部过滤</a:t>
            </a:r>
          </a:p>
          <a:p>
            <a:pPr>
              <a:spcAft>
                <a:spcPts val="1000"/>
              </a:spcAft>
              <a:defRPr sz="1500">
                <a:solidFill>
                  <a:srgbClr val="2C3E50"/>
                </a:solidFill>
              </a:defRPr>
            </a:pPr>
            <a:r>
              <a:t>基本思想：不同于 SOR 依赖平均距离，ROR 完全基于点云的局部空间密度特征来识别异常点，专门用于剔除孤立的散乱噪声。</a:t>
            </a:r>
          </a:p>
          <a:p>
            <a:pPr>
              <a:spcAft>
                <a:spcPts val="1000"/>
              </a:spcAft>
              <a:defRPr sz="1500">
                <a:solidFill>
                  <a:srgbClr val="2C3E50"/>
                </a:solidFill>
              </a:defRPr>
            </a:pPr>
            <a:r>
              <a:t>执行流程：</a:t>
            </a:r>
          </a:p>
          <a:p>
            <a:pPr>
              <a:spcAft>
                <a:spcPts val="1000"/>
              </a:spcAft>
              <a:defRPr sz="1500">
                <a:solidFill>
                  <a:srgbClr val="2C3E50"/>
                </a:solidFill>
              </a:defRPr>
            </a:pPr>
            <a:r>
              <a:t>• 以空间点 pᵢ 为球心，设定固定搜索半径 r</a:t>
            </a:r>
          </a:p>
          <a:p>
            <a:pPr>
              <a:spcAft>
                <a:spcPts val="1000"/>
              </a:spcAft>
              <a:defRPr sz="1500">
                <a:solidFill>
                  <a:srgbClr val="2C3E50"/>
                </a:solidFill>
              </a:defRPr>
            </a:pPr>
            <a:r>
              <a:t>• 统计该超球体内包含的邻域点数量 |N(pᵢ)|</a:t>
            </a:r>
          </a:p>
          <a:p>
            <a:pPr>
              <a:spcAft>
                <a:spcPts val="1000"/>
              </a:spcAft>
              <a:defRPr sz="1500">
                <a:solidFill>
                  <a:srgbClr val="2C3E50"/>
                </a:solidFill>
              </a:defRPr>
            </a:pPr>
            <a:r>
              <a:t>• 若 |N(pᵢ)| &lt; T，则该点被认定为缺乏有效支撑的离群噪声点</a:t>
            </a:r>
          </a:p>
          <a:p>
            <a:pPr>
              <a:spcAft>
                <a:spcPts val="1000"/>
              </a:spcAft>
              <a:defRPr sz="1500">
                <a:solidFill>
                  <a:srgbClr val="2C3E50"/>
                </a:solidFill>
              </a:defRPr>
            </a:pPr>
            <a:r>
              <a:t>应用场景：对局部稀疏噪声极为敏感，非常适合处理边缘悬浮点与孤立噪声。</a:t>
            </a:r>
          </a:p>
        </p:txBody>
      </p:sp>
      <p:pic>
        <p:nvPicPr>
          <p:cNvPr id="6" name="Picture 5" descr="ror_compare.png"/>
          <p:cNvPicPr>
            <a:picLocks noChangeAspect="1"/>
          </p:cNvPicPr>
          <p:nvPr/>
        </p:nvPicPr>
        <p:blipFill>
          <a:blip r:embed="rId2"/>
          <a:stretch>
            <a:fillRect/>
          </a:stretch>
        </p:blipFill>
        <p:spPr>
          <a:xfrm>
            <a:off x="5257800" y="1051560"/>
            <a:ext cx="3383280" cy="475488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A56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8138160" cy="502920"/>
          </a:xfrm>
          <a:prstGeom prst="rect">
            <a:avLst/>
          </a:prstGeom>
          <a:noFill/>
        </p:spPr>
        <p:txBody>
          <a:bodyPr wrap="none">
            <a:spAutoFit/>
          </a:bodyPr>
          <a:lstStyle/>
          <a:p>
            <a:pPr>
              <a:defRPr sz="2800" b="1">
                <a:solidFill>
                  <a:srgbClr val="1A568E"/>
                </a:solidFill>
              </a:defRPr>
            </a:pPr>
            <a:r>
              <a:t>拓展与高级处理模块</a:t>
            </a:r>
          </a:p>
        </p:txBody>
      </p:sp>
      <p:sp>
        <p:nvSpPr>
          <p:cNvPr id="4" name="Rectangle 3"/>
          <p:cNvSpPr/>
          <p:nvPr/>
        </p:nvSpPr>
        <p:spPr>
          <a:xfrm>
            <a:off x="502920" y="777240"/>
            <a:ext cx="8138160" cy="1828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egmentation.png"/>
          <p:cNvPicPr>
            <a:picLocks noChangeAspect="1"/>
          </p:cNvPicPr>
          <p:nvPr/>
        </p:nvPicPr>
        <p:blipFill>
          <a:blip r:embed="rId2"/>
          <a:stretch>
            <a:fillRect/>
          </a:stretch>
        </p:blipFill>
        <p:spPr>
          <a:xfrm>
            <a:off x="320040" y="1051560"/>
            <a:ext cx="2606040" cy="1828800"/>
          </a:xfrm>
          <a:prstGeom prst="rect">
            <a:avLst/>
          </a:prstGeom>
        </p:spPr>
      </p:pic>
      <p:sp>
        <p:nvSpPr>
          <p:cNvPr id="6" name="Rounded Rectangle 5"/>
          <p:cNvSpPr/>
          <p:nvPr/>
        </p:nvSpPr>
        <p:spPr>
          <a:xfrm>
            <a:off x="320040" y="2971800"/>
            <a:ext cx="2606040" cy="3200400"/>
          </a:xfrm>
          <a:prstGeom prst="roundRect">
            <a:avLst/>
          </a:prstGeom>
          <a:solidFill>
            <a:srgbClr val="FFFFFF"/>
          </a:solidFill>
          <a:ln>
            <a:solidFill>
              <a:srgbClr val="D6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3081528"/>
            <a:ext cx="2331720" cy="3017520"/>
          </a:xfrm>
          <a:prstGeom prst="rect">
            <a:avLst/>
          </a:prstGeom>
          <a:noFill/>
        </p:spPr>
        <p:txBody>
          <a:bodyPr wrap="square">
            <a:spAutoFit/>
          </a:bodyPr>
          <a:lstStyle/>
          <a:p>
            <a:pPr>
              <a:spcAft>
                <a:spcPts val="800"/>
              </a:spcAft>
              <a:defRPr sz="1800" b="1">
                <a:solidFill>
                  <a:srgbClr val="1A568E"/>
                </a:solidFill>
              </a:defRPr>
            </a:pPr>
            <a:r>
              <a:t>点云分割技术</a:t>
            </a:r>
          </a:p>
          <a:p>
            <a:pPr>
              <a:spcAft>
                <a:spcPts val="600"/>
              </a:spcAft>
              <a:defRPr sz="1300">
                <a:solidFill>
                  <a:srgbClr val="2C3E50"/>
                </a:solidFill>
              </a:defRPr>
            </a:pPr>
            <a:r>
              <a:t>引入密度聚类（DBSCAN）和区域生长算法，将滤波后的纯净点云按几何或密度特征划分为独立的目标区域，为后续提取提供支撑。</a:t>
            </a:r>
          </a:p>
        </p:txBody>
      </p:sp>
      <p:pic>
        <p:nvPicPr>
          <p:cNvPr id="8" name="Picture 7" descr="classification_legend.png"/>
          <p:cNvPicPr>
            <a:picLocks noChangeAspect="1"/>
          </p:cNvPicPr>
          <p:nvPr/>
        </p:nvPicPr>
        <p:blipFill>
          <a:blip r:embed="rId3"/>
          <a:stretch>
            <a:fillRect/>
          </a:stretch>
        </p:blipFill>
        <p:spPr>
          <a:xfrm>
            <a:off x="3154680" y="1051560"/>
            <a:ext cx="2606040" cy="1828800"/>
          </a:xfrm>
          <a:prstGeom prst="rect">
            <a:avLst/>
          </a:prstGeom>
        </p:spPr>
      </p:pic>
      <p:sp>
        <p:nvSpPr>
          <p:cNvPr id="9" name="Rounded Rectangle 8"/>
          <p:cNvSpPr/>
          <p:nvPr/>
        </p:nvSpPr>
        <p:spPr>
          <a:xfrm>
            <a:off x="3154680" y="2971800"/>
            <a:ext cx="2606040" cy="3200400"/>
          </a:xfrm>
          <a:prstGeom prst="roundRect">
            <a:avLst/>
          </a:prstGeom>
          <a:solidFill>
            <a:srgbClr val="FFFFFF"/>
          </a:solidFill>
          <a:ln>
            <a:solidFill>
              <a:srgbClr val="D6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91840" y="3081528"/>
            <a:ext cx="2331720" cy="3017520"/>
          </a:xfrm>
          <a:prstGeom prst="rect">
            <a:avLst/>
          </a:prstGeom>
          <a:noFill/>
        </p:spPr>
        <p:txBody>
          <a:bodyPr wrap="square">
            <a:spAutoFit/>
          </a:bodyPr>
          <a:lstStyle/>
          <a:p>
            <a:pPr>
              <a:spcAft>
                <a:spcPts val="800"/>
              </a:spcAft>
              <a:defRPr sz="1800" b="1">
                <a:solidFill>
                  <a:srgbClr val="1A568E"/>
                </a:solidFill>
              </a:defRPr>
            </a:pPr>
            <a:r>
              <a:t>语义分类与裁切</a:t>
            </a:r>
          </a:p>
          <a:p>
            <a:pPr>
              <a:spcAft>
                <a:spcPts val="600"/>
              </a:spcAft>
              <a:defRPr sz="1300">
                <a:solidFill>
                  <a:srgbClr val="2C3E50"/>
                </a:solidFill>
              </a:defRPr>
            </a:pPr>
            <a:r>
              <a:t>提取法线、曲率等几何特征后进行分类标识，并实现基于语义标签的点云子集裁切，高度契合测绘地物提取工作流。</a:t>
            </a:r>
          </a:p>
        </p:txBody>
      </p:sp>
      <p:pic>
        <p:nvPicPr>
          <p:cNvPr id="11" name="Picture 10" descr="tiling_scene.png"/>
          <p:cNvPicPr>
            <a:picLocks noChangeAspect="1"/>
          </p:cNvPicPr>
          <p:nvPr/>
        </p:nvPicPr>
        <p:blipFill>
          <a:blip r:embed="rId4"/>
          <a:stretch>
            <a:fillRect/>
          </a:stretch>
        </p:blipFill>
        <p:spPr>
          <a:xfrm>
            <a:off x="5989320" y="1051560"/>
            <a:ext cx="2606040" cy="1828800"/>
          </a:xfrm>
          <a:prstGeom prst="rect">
            <a:avLst/>
          </a:prstGeom>
        </p:spPr>
      </p:pic>
      <p:sp>
        <p:nvSpPr>
          <p:cNvPr id="12" name="Rounded Rectangle 11"/>
          <p:cNvSpPr/>
          <p:nvPr/>
        </p:nvSpPr>
        <p:spPr>
          <a:xfrm>
            <a:off x="5989320" y="2971800"/>
            <a:ext cx="2606040" cy="3200400"/>
          </a:xfrm>
          <a:prstGeom prst="roundRect">
            <a:avLst/>
          </a:prstGeom>
          <a:solidFill>
            <a:srgbClr val="FFFFFF"/>
          </a:solidFill>
          <a:ln>
            <a:solidFill>
              <a:srgbClr val="D6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26480" y="3081528"/>
            <a:ext cx="2331720" cy="3017520"/>
          </a:xfrm>
          <a:prstGeom prst="rect">
            <a:avLst/>
          </a:prstGeom>
          <a:noFill/>
        </p:spPr>
        <p:txBody>
          <a:bodyPr wrap="square">
            <a:spAutoFit/>
          </a:bodyPr>
          <a:lstStyle/>
          <a:p>
            <a:pPr>
              <a:spcAft>
                <a:spcPts val="800"/>
              </a:spcAft>
              <a:defRPr sz="1800" b="1">
                <a:solidFill>
                  <a:srgbClr val="1A568E"/>
                </a:solidFill>
              </a:defRPr>
            </a:pPr>
            <a:r>
              <a:t>海量数据重叠分块</a:t>
            </a:r>
          </a:p>
          <a:p>
            <a:pPr>
              <a:spcAft>
                <a:spcPts val="600"/>
              </a:spcAft>
              <a:defRPr sz="1300">
                <a:solidFill>
                  <a:srgbClr val="2C3E50"/>
                </a:solidFill>
              </a:defRPr>
            </a:pPr>
            <a:r>
              <a:t>针对超大体积 LAS 文件，采取带重叠缓冲区的 XY 平面分块（Tiled）处理策略，有效缓解内存溢出并消除边界滤波假影。</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A56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8138160" cy="502920"/>
          </a:xfrm>
          <a:prstGeom prst="rect">
            <a:avLst/>
          </a:prstGeom>
          <a:noFill/>
        </p:spPr>
        <p:txBody>
          <a:bodyPr wrap="none">
            <a:spAutoFit/>
          </a:bodyPr>
          <a:lstStyle/>
          <a:p>
            <a:pPr>
              <a:defRPr sz="2800" b="1">
                <a:solidFill>
                  <a:srgbClr val="1A568E"/>
                </a:solidFill>
              </a:defRPr>
            </a:pPr>
            <a:r>
              <a:t>结果分析：综合滤波性能对比</a:t>
            </a:r>
          </a:p>
        </p:txBody>
      </p:sp>
      <p:sp>
        <p:nvSpPr>
          <p:cNvPr id="4" name="Rectangle 3"/>
          <p:cNvSpPr/>
          <p:nvPr/>
        </p:nvSpPr>
        <p:spPr>
          <a:xfrm>
            <a:off x="502920" y="777240"/>
            <a:ext cx="8138160" cy="1828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25880"/>
            <a:ext cx="2560320" cy="320040"/>
          </a:xfrm>
          <a:prstGeom prst="rect">
            <a:avLst/>
          </a:prstGeom>
          <a:noFill/>
        </p:spPr>
        <p:txBody>
          <a:bodyPr wrap="none">
            <a:spAutoFit/>
          </a:bodyPr>
          <a:lstStyle/>
          <a:p>
            <a:pPr>
              <a:defRPr sz="1400">
                <a:solidFill>
                  <a:srgbClr val="2C3E50"/>
                </a:solidFill>
              </a:defRPr>
            </a:pPr>
            <a:r>
              <a:t>SOR</a:t>
            </a:r>
          </a:p>
        </p:txBody>
      </p:sp>
      <p:sp>
        <p:nvSpPr>
          <p:cNvPr id="6" name="Rounded Rectangle 5"/>
          <p:cNvSpPr/>
          <p:nvPr/>
        </p:nvSpPr>
        <p:spPr>
          <a:xfrm>
            <a:off x="3154680" y="1344168"/>
            <a:ext cx="5486400" cy="292608"/>
          </a:xfrm>
          <a:prstGeom prst="round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154680" y="1344168"/>
            <a:ext cx="5047488" cy="292608"/>
          </a:xfrm>
          <a:prstGeom prst="roundRect">
            <a:avLst/>
          </a:prstGeom>
          <a:solidFill>
            <a:srgbClr val="1A56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0" y="1344168"/>
            <a:ext cx="4956048" cy="292608"/>
          </a:xfrm>
          <a:prstGeom prst="rect">
            <a:avLst/>
          </a:prstGeom>
          <a:noFill/>
        </p:spPr>
        <p:txBody>
          <a:bodyPr wrap="none" anchor="ctr">
            <a:spAutoFit/>
          </a:bodyPr>
          <a:lstStyle/>
          <a:p>
            <a:pPr>
              <a:defRPr sz="1200" b="1">
                <a:solidFill>
                  <a:srgbClr val="FFFFFF"/>
                </a:solidFill>
              </a:defRPr>
            </a:pPr>
            <a:r>
              <a:t>SOR 效率 (92%)</a:t>
            </a:r>
          </a:p>
        </p:txBody>
      </p:sp>
      <p:sp>
        <p:nvSpPr>
          <p:cNvPr id="9" name="TextBox 8"/>
          <p:cNvSpPr txBox="1"/>
          <p:nvPr/>
        </p:nvSpPr>
        <p:spPr>
          <a:xfrm>
            <a:off x="502920" y="1874519"/>
            <a:ext cx="2560320" cy="320040"/>
          </a:xfrm>
          <a:prstGeom prst="rect">
            <a:avLst/>
          </a:prstGeom>
          <a:noFill/>
        </p:spPr>
        <p:txBody>
          <a:bodyPr wrap="none">
            <a:spAutoFit/>
          </a:bodyPr>
          <a:lstStyle/>
          <a:p>
            <a:pPr>
              <a:defRPr sz="1400">
                <a:solidFill>
                  <a:srgbClr val="2C3E50"/>
                </a:solidFill>
              </a:defRPr>
            </a:pPr>
            <a:r>
              <a:t>ROR</a:t>
            </a:r>
          </a:p>
        </p:txBody>
      </p:sp>
      <p:sp>
        <p:nvSpPr>
          <p:cNvPr id="10" name="Rounded Rectangle 9"/>
          <p:cNvSpPr/>
          <p:nvPr/>
        </p:nvSpPr>
        <p:spPr>
          <a:xfrm>
            <a:off x="3154680" y="1892807"/>
            <a:ext cx="5486400" cy="292608"/>
          </a:xfrm>
          <a:prstGeom prst="round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154680" y="1892807"/>
            <a:ext cx="3566160" cy="292608"/>
          </a:xfrm>
          <a:prstGeom prst="roundRect">
            <a:avLst/>
          </a:prstGeom>
          <a:solidFill>
            <a:srgbClr val="7E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0" y="1892807"/>
            <a:ext cx="3474720" cy="292608"/>
          </a:xfrm>
          <a:prstGeom prst="rect">
            <a:avLst/>
          </a:prstGeom>
          <a:noFill/>
        </p:spPr>
        <p:txBody>
          <a:bodyPr wrap="none" anchor="ctr">
            <a:spAutoFit/>
          </a:bodyPr>
          <a:lstStyle/>
          <a:p>
            <a:pPr>
              <a:defRPr sz="1200" b="1">
                <a:solidFill>
                  <a:srgbClr val="FFFFFF"/>
                </a:solidFill>
              </a:defRPr>
            </a:pPr>
            <a:r>
              <a:t>ROR 效率 (65%)</a:t>
            </a:r>
          </a:p>
        </p:txBody>
      </p:sp>
      <p:sp>
        <p:nvSpPr>
          <p:cNvPr id="13" name="TextBox 12"/>
          <p:cNvSpPr txBox="1"/>
          <p:nvPr/>
        </p:nvSpPr>
        <p:spPr>
          <a:xfrm>
            <a:off x="502920" y="1051560"/>
            <a:ext cx="7772400" cy="274320"/>
          </a:xfrm>
          <a:prstGeom prst="rect">
            <a:avLst/>
          </a:prstGeom>
          <a:noFill/>
        </p:spPr>
        <p:txBody>
          <a:bodyPr wrap="none">
            <a:spAutoFit/>
          </a:bodyPr>
          <a:lstStyle/>
          <a:p>
            <a:pPr>
              <a:defRPr sz="1500" b="1"/>
            </a:pPr>
            <a:r>
              <a:t>处理全局分布随机噪声</a:t>
            </a:r>
          </a:p>
        </p:txBody>
      </p:sp>
      <p:sp>
        <p:nvSpPr>
          <p:cNvPr id="14" name="TextBox 13"/>
          <p:cNvSpPr txBox="1"/>
          <p:nvPr/>
        </p:nvSpPr>
        <p:spPr>
          <a:xfrm>
            <a:off x="502920" y="2788920"/>
            <a:ext cx="2560320" cy="320040"/>
          </a:xfrm>
          <a:prstGeom prst="rect">
            <a:avLst/>
          </a:prstGeom>
          <a:noFill/>
        </p:spPr>
        <p:txBody>
          <a:bodyPr wrap="none">
            <a:spAutoFit/>
          </a:bodyPr>
          <a:lstStyle/>
          <a:p>
            <a:pPr>
              <a:defRPr sz="1400">
                <a:solidFill>
                  <a:srgbClr val="2C3E50"/>
                </a:solidFill>
              </a:defRPr>
            </a:pPr>
            <a:r>
              <a:t>SOR</a:t>
            </a:r>
          </a:p>
        </p:txBody>
      </p:sp>
      <p:sp>
        <p:nvSpPr>
          <p:cNvPr id="15" name="Rounded Rectangle 14"/>
          <p:cNvSpPr/>
          <p:nvPr/>
        </p:nvSpPr>
        <p:spPr>
          <a:xfrm>
            <a:off x="3154680" y="2807208"/>
            <a:ext cx="5486400" cy="292608"/>
          </a:xfrm>
          <a:prstGeom prst="round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154680" y="2807208"/>
            <a:ext cx="4114800" cy="292608"/>
          </a:xfrm>
          <a:prstGeom prst="round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0" y="2807208"/>
            <a:ext cx="4023360" cy="292608"/>
          </a:xfrm>
          <a:prstGeom prst="rect">
            <a:avLst/>
          </a:prstGeom>
          <a:noFill/>
        </p:spPr>
        <p:txBody>
          <a:bodyPr wrap="none" anchor="ctr">
            <a:spAutoFit/>
          </a:bodyPr>
          <a:lstStyle/>
          <a:p>
            <a:pPr>
              <a:defRPr sz="1200" b="1">
                <a:solidFill>
                  <a:srgbClr val="FFFFFF"/>
                </a:solidFill>
              </a:defRPr>
            </a:pPr>
            <a:r>
              <a:t>SOR 效率 (75%)</a:t>
            </a:r>
          </a:p>
        </p:txBody>
      </p:sp>
      <p:sp>
        <p:nvSpPr>
          <p:cNvPr id="18" name="TextBox 17"/>
          <p:cNvSpPr txBox="1"/>
          <p:nvPr/>
        </p:nvSpPr>
        <p:spPr>
          <a:xfrm>
            <a:off x="502920" y="3337560"/>
            <a:ext cx="2560320" cy="320040"/>
          </a:xfrm>
          <a:prstGeom prst="rect">
            <a:avLst/>
          </a:prstGeom>
          <a:noFill/>
        </p:spPr>
        <p:txBody>
          <a:bodyPr wrap="none">
            <a:spAutoFit/>
          </a:bodyPr>
          <a:lstStyle/>
          <a:p>
            <a:pPr>
              <a:defRPr sz="1400">
                <a:solidFill>
                  <a:srgbClr val="2C3E50"/>
                </a:solidFill>
              </a:defRPr>
            </a:pPr>
            <a:r>
              <a:t>ROR</a:t>
            </a:r>
          </a:p>
        </p:txBody>
      </p:sp>
      <p:sp>
        <p:nvSpPr>
          <p:cNvPr id="19" name="Rounded Rectangle 18"/>
          <p:cNvSpPr/>
          <p:nvPr/>
        </p:nvSpPr>
        <p:spPr>
          <a:xfrm>
            <a:off x="3154680" y="3355848"/>
            <a:ext cx="5486400" cy="292608"/>
          </a:xfrm>
          <a:prstGeom prst="round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154680" y="3355848"/>
            <a:ext cx="5212080" cy="292608"/>
          </a:xfrm>
          <a:prstGeom prst="roundRect">
            <a:avLst/>
          </a:prstGeom>
          <a:solidFill>
            <a:srgbClr val="22B1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00400" y="3355848"/>
            <a:ext cx="5120640" cy="292608"/>
          </a:xfrm>
          <a:prstGeom prst="rect">
            <a:avLst/>
          </a:prstGeom>
          <a:noFill/>
        </p:spPr>
        <p:txBody>
          <a:bodyPr wrap="none" anchor="ctr">
            <a:spAutoFit/>
          </a:bodyPr>
          <a:lstStyle/>
          <a:p>
            <a:pPr>
              <a:defRPr sz="1200" b="1">
                <a:solidFill>
                  <a:srgbClr val="FFFFFF"/>
                </a:solidFill>
              </a:defRPr>
            </a:pPr>
            <a:r>
              <a:t>ROR 效率 (95%)</a:t>
            </a:r>
          </a:p>
        </p:txBody>
      </p:sp>
      <p:sp>
        <p:nvSpPr>
          <p:cNvPr id="22" name="TextBox 21"/>
          <p:cNvSpPr txBox="1"/>
          <p:nvPr/>
        </p:nvSpPr>
        <p:spPr>
          <a:xfrm>
            <a:off x="502920" y="2514600"/>
            <a:ext cx="7772400" cy="274320"/>
          </a:xfrm>
          <a:prstGeom prst="rect">
            <a:avLst/>
          </a:prstGeom>
          <a:noFill/>
        </p:spPr>
        <p:txBody>
          <a:bodyPr wrap="none">
            <a:spAutoFit/>
          </a:bodyPr>
          <a:lstStyle/>
          <a:p>
            <a:pPr>
              <a:defRPr sz="1500" b="1"/>
            </a:pPr>
            <a:r>
              <a:t>处理局部稀疏孤立噪声</a:t>
            </a:r>
          </a:p>
        </p:txBody>
      </p:sp>
      <p:sp>
        <p:nvSpPr>
          <p:cNvPr id="23" name="TextBox 22"/>
          <p:cNvSpPr txBox="1"/>
          <p:nvPr/>
        </p:nvSpPr>
        <p:spPr>
          <a:xfrm>
            <a:off x="502920" y="4160520"/>
            <a:ext cx="8138160" cy="1645920"/>
          </a:xfrm>
          <a:prstGeom prst="rect">
            <a:avLst/>
          </a:prstGeom>
          <a:noFill/>
        </p:spPr>
        <p:txBody>
          <a:bodyPr wrap="none">
            <a:spAutoFit/>
          </a:bodyPr>
          <a:lstStyle/>
          <a:p>
            <a:pPr>
              <a:defRPr sz="1500" i="1">
                <a:solidFill>
                  <a:srgbClr val="666666"/>
                </a:solidFill>
              </a:defRPr>
            </a:pPr>
            <a:r>
              <a:t>实验数据显示：SOR 算法在应对全局性、大范围离群噪声时具有卓越的鲁棒性且能更好保护地形结构；而 ROR 算法则对于局部游离的稀疏噪声表现出更高的敏感度和极强的清除能力。二者相辅相成。</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A56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8138160" cy="502920"/>
          </a:xfrm>
          <a:prstGeom prst="rect">
            <a:avLst/>
          </a:prstGeom>
          <a:noFill/>
        </p:spPr>
        <p:txBody>
          <a:bodyPr wrap="none">
            <a:spAutoFit/>
          </a:bodyPr>
          <a:lstStyle/>
          <a:p>
            <a:pPr>
              <a:defRPr sz="2800" b="1">
                <a:solidFill>
                  <a:srgbClr val="1A568E"/>
                </a:solidFill>
              </a:defRPr>
            </a:pPr>
            <a:r>
              <a:t>工程创新点总结</a:t>
            </a:r>
          </a:p>
        </p:txBody>
      </p:sp>
      <p:sp>
        <p:nvSpPr>
          <p:cNvPr id="4" name="Rectangle 3"/>
          <p:cNvSpPr/>
          <p:nvPr/>
        </p:nvSpPr>
        <p:spPr>
          <a:xfrm>
            <a:off x="502920" y="777240"/>
            <a:ext cx="8138160" cy="1828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051560"/>
            <a:ext cx="8138160" cy="1051560"/>
          </a:xfrm>
          <a:prstGeom prst="roundRect">
            <a:avLst/>
          </a:prstGeom>
          <a:solidFill>
            <a:srgbClr val="FFFFFF"/>
          </a:solidFill>
          <a:ln>
            <a:solidFill>
              <a:srgbClr val="D6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161288"/>
            <a:ext cx="7863840" cy="868680"/>
          </a:xfrm>
          <a:prstGeom prst="rect">
            <a:avLst/>
          </a:prstGeom>
          <a:noFill/>
        </p:spPr>
        <p:txBody>
          <a:bodyPr wrap="square">
            <a:spAutoFit/>
          </a:bodyPr>
          <a:lstStyle/>
          <a:p>
            <a:pPr>
              <a:spcAft>
                <a:spcPts val="800"/>
              </a:spcAft>
              <a:defRPr sz="1700" b="1">
                <a:solidFill>
                  <a:srgbClr val="1A568E"/>
                </a:solidFill>
              </a:defRPr>
            </a:pPr>
            <a:r>
              <a:t>无缝的精度保留机制</a:t>
            </a:r>
          </a:p>
          <a:p>
            <a:pPr>
              <a:spcAft>
                <a:spcPts val="600"/>
              </a:spcAft>
              <a:defRPr sz="1300">
                <a:solidFill>
                  <a:srgbClr val="2C3E50"/>
                </a:solidFill>
              </a:defRPr>
            </a:pPr>
            <a:r>
              <a:t>在 LAS 文件读写处理中，严格保持原始头信息中的比例尺（Scale）和偏移量（Offset）不变，确保滤波前后坐标精度零损失，完美兼容现存测绘商业软件。</a:t>
            </a:r>
          </a:p>
        </p:txBody>
      </p:sp>
      <p:sp>
        <p:nvSpPr>
          <p:cNvPr id="7" name="Rounded Rectangle 6"/>
          <p:cNvSpPr/>
          <p:nvPr/>
        </p:nvSpPr>
        <p:spPr>
          <a:xfrm>
            <a:off x="502920" y="2331720"/>
            <a:ext cx="8138160" cy="1051560"/>
          </a:xfrm>
          <a:prstGeom prst="roundRect">
            <a:avLst/>
          </a:prstGeom>
          <a:solidFill>
            <a:srgbClr val="FFFFFF"/>
          </a:solidFill>
          <a:ln>
            <a:solidFill>
              <a:srgbClr val="D6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441448"/>
            <a:ext cx="7863840" cy="868680"/>
          </a:xfrm>
          <a:prstGeom prst="rect">
            <a:avLst/>
          </a:prstGeom>
          <a:noFill/>
        </p:spPr>
        <p:txBody>
          <a:bodyPr wrap="square">
            <a:spAutoFit/>
          </a:bodyPr>
          <a:lstStyle/>
          <a:p>
            <a:pPr>
              <a:spcAft>
                <a:spcPts val="800"/>
              </a:spcAft>
              <a:defRPr sz="1700" b="1">
                <a:solidFill>
                  <a:srgbClr val="1A568E"/>
                </a:solidFill>
              </a:defRPr>
            </a:pPr>
            <a:r>
              <a:t>轻量高效的技术栈设计</a:t>
            </a:r>
          </a:p>
          <a:p>
            <a:pPr>
              <a:spcAft>
                <a:spcPts val="600"/>
              </a:spcAft>
              <a:defRPr sz="1300">
                <a:solidFill>
                  <a:srgbClr val="2C3E50"/>
                </a:solidFill>
              </a:defRPr>
            </a:pPr>
            <a:r>
              <a:t>摒弃配置繁杂的传统 C++ 桌面库体系，采用 laspy + NumPy + SciPy + scikit-learn 组合，在保证计算性能的同时极大降低了工程部署门槛。</a:t>
            </a:r>
          </a:p>
        </p:txBody>
      </p:sp>
      <p:sp>
        <p:nvSpPr>
          <p:cNvPr id="9" name="Rounded Rectangle 8"/>
          <p:cNvSpPr/>
          <p:nvPr/>
        </p:nvSpPr>
        <p:spPr>
          <a:xfrm>
            <a:off x="502920" y="3611880"/>
            <a:ext cx="8138160" cy="1051560"/>
          </a:xfrm>
          <a:prstGeom prst="roundRect">
            <a:avLst/>
          </a:prstGeom>
          <a:solidFill>
            <a:srgbClr val="FFFFFF"/>
          </a:solidFill>
          <a:ln>
            <a:solidFill>
              <a:srgbClr val="D6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721608"/>
            <a:ext cx="7863840" cy="868680"/>
          </a:xfrm>
          <a:prstGeom prst="rect">
            <a:avLst/>
          </a:prstGeom>
          <a:noFill/>
        </p:spPr>
        <p:txBody>
          <a:bodyPr wrap="square">
            <a:spAutoFit/>
          </a:bodyPr>
          <a:lstStyle/>
          <a:p>
            <a:pPr>
              <a:spcAft>
                <a:spcPts val="800"/>
              </a:spcAft>
              <a:defRPr sz="1700" b="1">
                <a:solidFill>
                  <a:srgbClr val="1A568E"/>
                </a:solidFill>
              </a:defRPr>
            </a:pPr>
            <a:r>
              <a:t>重叠分块内存优化策略</a:t>
            </a:r>
          </a:p>
          <a:p>
            <a:pPr>
              <a:spcAft>
                <a:spcPts val="600"/>
              </a:spcAft>
              <a:defRPr sz="1300">
                <a:solidFill>
                  <a:srgbClr val="2C3E50"/>
                </a:solidFill>
              </a:defRPr>
            </a:pPr>
            <a:r>
              <a:t>面对 GB 级别超大点云文件，创新实现带有冗余缓冲区的 XY 分块并行处理，根治内存峰值崩溃问题，并运用缓冲区重叠消除分界线的接缝瑕疵。</a:t>
            </a:r>
          </a:p>
        </p:txBody>
      </p:sp>
      <p:sp>
        <p:nvSpPr>
          <p:cNvPr id="11" name="Rounded Rectangle 10"/>
          <p:cNvSpPr/>
          <p:nvPr/>
        </p:nvSpPr>
        <p:spPr>
          <a:xfrm>
            <a:off x="502920" y="4892040"/>
            <a:ext cx="8138160" cy="1051560"/>
          </a:xfrm>
          <a:prstGeom prst="roundRect">
            <a:avLst/>
          </a:prstGeom>
          <a:solidFill>
            <a:srgbClr val="FFFFFF"/>
          </a:solidFill>
          <a:ln>
            <a:solidFill>
              <a:srgbClr val="D6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5001768"/>
            <a:ext cx="7863840" cy="868680"/>
          </a:xfrm>
          <a:prstGeom prst="rect">
            <a:avLst/>
          </a:prstGeom>
          <a:noFill/>
        </p:spPr>
        <p:txBody>
          <a:bodyPr wrap="square">
            <a:spAutoFit/>
          </a:bodyPr>
          <a:lstStyle/>
          <a:p>
            <a:pPr>
              <a:spcAft>
                <a:spcPts val="800"/>
              </a:spcAft>
              <a:defRPr sz="1700" b="1">
                <a:solidFill>
                  <a:srgbClr val="1A568E"/>
                </a:solidFill>
              </a:defRPr>
            </a:pPr>
            <a:r>
              <a:t>极具实战价值的工作流</a:t>
            </a:r>
          </a:p>
          <a:p>
            <a:pPr>
              <a:spcAft>
                <a:spcPts val="600"/>
              </a:spcAft>
              <a:defRPr sz="1300">
                <a:solidFill>
                  <a:srgbClr val="2C3E50"/>
                </a:solidFill>
              </a:defRPr>
            </a:pPr>
            <a:r>
              <a:t>程序集成滤波、降噪、分割与分类提取全套预处理流程，可直接作为地面提取、数字孪生及分类建模等高阶任务的上游标准预处理管线。</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A56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8138160" cy="502920"/>
          </a:xfrm>
          <a:prstGeom prst="rect">
            <a:avLst/>
          </a:prstGeom>
          <a:noFill/>
        </p:spPr>
        <p:txBody>
          <a:bodyPr wrap="none">
            <a:spAutoFit/>
          </a:bodyPr>
          <a:lstStyle/>
          <a:p>
            <a:pPr>
              <a:defRPr sz="2800" b="1">
                <a:solidFill>
                  <a:srgbClr val="1A568E"/>
                </a:solidFill>
              </a:defRPr>
            </a:pPr>
            <a:r>
              <a:t>研究结论与未来展望</a:t>
            </a:r>
          </a:p>
        </p:txBody>
      </p:sp>
      <p:sp>
        <p:nvSpPr>
          <p:cNvPr id="4" name="Rectangle 3"/>
          <p:cNvSpPr/>
          <p:nvPr/>
        </p:nvSpPr>
        <p:spPr>
          <a:xfrm>
            <a:off x="502920" y="777240"/>
            <a:ext cx="8138160" cy="1828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onclusion_pointcloud.png"/>
          <p:cNvPicPr>
            <a:picLocks noChangeAspect="1"/>
          </p:cNvPicPr>
          <p:nvPr/>
        </p:nvPicPr>
        <p:blipFill>
          <a:blip r:embed="rId2"/>
          <a:stretch>
            <a:fillRect/>
          </a:stretch>
        </p:blipFill>
        <p:spPr>
          <a:xfrm>
            <a:off x="502920" y="1097280"/>
            <a:ext cx="2926080" cy="4846320"/>
          </a:xfrm>
          <a:prstGeom prst="rect">
            <a:avLst/>
          </a:prstGeom>
        </p:spPr>
      </p:pic>
      <p:sp>
        <p:nvSpPr>
          <p:cNvPr id="6" name="Rounded Rectangle 5"/>
          <p:cNvSpPr/>
          <p:nvPr/>
        </p:nvSpPr>
        <p:spPr>
          <a:xfrm>
            <a:off x="3657600" y="1097280"/>
            <a:ext cx="4983480" cy="2194560"/>
          </a:xfrm>
          <a:prstGeom prst="roundRect">
            <a:avLst/>
          </a:prstGeom>
          <a:solidFill>
            <a:srgbClr val="FFFFFF"/>
          </a:solidFill>
          <a:ln>
            <a:solidFill>
              <a:srgbClr val="D6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794760" y="1207007"/>
            <a:ext cx="4709160" cy="2011679"/>
          </a:xfrm>
          <a:prstGeom prst="rect">
            <a:avLst/>
          </a:prstGeom>
          <a:noFill/>
        </p:spPr>
        <p:txBody>
          <a:bodyPr wrap="square">
            <a:spAutoFit/>
          </a:bodyPr>
          <a:lstStyle/>
          <a:p>
            <a:pPr>
              <a:spcAft>
                <a:spcPts val="800"/>
              </a:spcAft>
              <a:defRPr sz="1800" b="1">
                <a:solidFill>
                  <a:srgbClr val="1A568E"/>
                </a:solidFill>
              </a:defRPr>
            </a:pPr>
            <a:r>
              <a:t>主要研究结论</a:t>
            </a:r>
          </a:p>
          <a:p>
            <a:pPr>
              <a:spcAft>
                <a:spcPts val="600"/>
              </a:spcAft>
              <a:defRPr sz="1500">
                <a:solidFill>
                  <a:srgbClr val="2C3E50"/>
                </a:solidFill>
              </a:defRPr>
            </a:pPr>
            <a:r>
              <a:t>本课题成功研发了一款面向实际测绘工程应用的点云滤波预处理程序。实验证明，该程序能够高效且智能地剔除不同特征的异常噪声点，同时极其出色地保持了原始点云的地物细节与结构连贯性，具有较高的应用转化价值。</a:t>
            </a:r>
          </a:p>
        </p:txBody>
      </p:sp>
      <p:sp>
        <p:nvSpPr>
          <p:cNvPr id="8" name="Rounded Rectangle 7"/>
          <p:cNvSpPr/>
          <p:nvPr/>
        </p:nvSpPr>
        <p:spPr>
          <a:xfrm>
            <a:off x="3657600" y="3520440"/>
            <a:ext cx="4983480" cy="2423160"/>
          </a:xfrm>
          <a:prstGeom prst="roundRect">
            <a:avLst/>
          </a:prstGeom>
          <a:solidFill>
            <a:srgbClr val="FFFFFF"/>
          </a:solidFill>
          <a:ln>
            <a:solidFill>
              <a:srgbClr val="D6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94760" y="3630168"/>
            <a:ext cx="4709160" cy="2240279"/>
          </a:xfrm>
          <a:prstGeom prst="rect">
            <a:avLst/>
          </a:prstGeom>
          <a:noFill/>
        </p:spPr>
        <p:txBody>
          <a:bodyPr wrap="square">
            <a:spAutoFit/>
          </a:bodyPr>
          <a:lstStyle/>
          <a:p>
            <a:pPr>
              <a:spcAft>
                <a:spcPts val="800"/>
              </a:spcAft>
              <a:defRPr sz="1800" b="1">
                <a:solidFill>
                  <a:srgbClr val="1A568E"/>
                </a:solidFill>
              </a:defRPr>
            </a:pPr>
            <a:r>
              <a:t>未来发展展望</a:t>
            </a:r>
          </a:p>
          <a:p>
            <a:pPr>
              <a:spcAft>
                <a:spcPts val="600"/>
              </a:spcAft>
              <a:defRPr sz="1500">
                <a:solidFill>
                  <a:srgbClr val="2C3E50"/>
                </a:solidFill>
              </a:defRPr>
            </a:pPr>
            <a:r>
              <a:t>随着 AI 的演进，未来计划在管线中引入 PointNet 等深度学习模型，以实现动态复杂场景下的语义级智能滤波。同时，将探索基于 GPU（CUDA）的并行计算底层架构重构，进一步提升海量城市场景点云的实时处理速率。</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A56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7315200" cy="914400"/>
          </a:xfrm>
          <a:prstGeom prst="rect">
            <a:avLst/>
          </a:prstGeom>
          <a:noFill/>
        </p:spPr>
        <p:txBody>
          <a:bodyPr wrap="none">
            <a:spAutoFit/>
          </a:bodyPr>
          <a:lstStyle/>
          <a:p>
            <a:pPr algn="ctr">
              <a:defRPr sz="3600" b="1">
                <a:solidFill>
                  <a:srgbClr val="1A568E"/>
                </a:solidFill>
              </a:defRPr>
            </a:pPr>
            <a:r>
              <a:t>感谢聆听，敬请批评指正！</a:t>
            </a:r>
          </a:p>
        </p:txBody>
      </p:sp>
      <p:sp>
        <p:nvSpPr>
          <p:cNvPr id="4" name="TextBox 3"/>
          <p:cNvSpPr txBox="1"/>
          <p:nvPr/>
        </p:nvSpPr>
        <p:spPr>
          <a:xfrm>
            <a:off x="914400" y="2926080"/>
            <a:ext cx="7315200" cy="457200"/>
          </a:xfrm>
          <a:prstGeom prst="rect">
            <a:avLst/>
          </a:prstGeom>
          <a:noFill/>
        </p:spPr>
        <p:txBody>
          <a:bodyPr wrap="none">
            <a:spAutoFit/>
          </a:bodyPr>
          <a:lstStyle/>
          <a:p>
            <a:pPr algn="ctr">
              <a:defRPr sz="2000">
                <a:solidFill>
                  <a:srgbClr val="2E86C1"/>
                </a:solidFill>
              </a:defRPr>
            </a:pPr>
            <a:r>
              <a:t>Q &amp; A Session</a:t>
            </a:r>
          </a:p>
        </p:txBody>
      </p:sp>
      <p:sp>
        <p:nvSpPr>
          <p:cNvPr id="5" name="TextBox 4"/>
          <p:cNvSpPr txBox="1"/>
          <p:nvPr/>
        </p:nvSpPr>
        <p:spPr>
          <a:xfrm>
            <a:off x="914400" y="4572000"/>
            <a:ext cx="7315200" cy="1097280"/>
          </a:xfrm>
          <a:prstGeom prst="rect">
            <a:avLst/>
          </a:prstGeom>
          <a:noFill/>
        </p:spPr>
        <p:txBody>
          <a:bodyPr wrap="none">
            <a:spAutoFit/>
          </a:bodyPr>
          <a:lstStyle/>
          <a:p>
            <a:pPr algn="ctr">
              <a:defRPr sz="1600">
                <a:solidFill>
                  <a:srgbClr val="666666"/>
                </a:solidFill>
              </a:defRPr>
            </a:pPr>
            <a:r>
              <a:t>汇报人：张钧炀  |  指导教师：敖建锋 副教授</a:t>
            </a:r>
          </a:p>
          <a:p>
            <a:pPr algn="ctr">
              <a:defRPr sz="1600">
                <a:solidFill>
                  <a:srgbClr val="666666"/>
                </a:solidFill>
              </a:defRPr>
            </a:pPr>
            <a:r>
              <a:t>江西理工大学 · 土木与测绘工程学院</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A56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8138160" cy="502920"/>
          </a:xfrm>
          <a:prstGeom prst="rect">
            <a:avLst/>
          </a:prstGeom>
          <a:noFill/>
        </p:spPr>
        <p:txBody>
          <a:bodyPr wrap="none">
            <a:spAutoFit/>
          </a:bodyPr>
          <a:lstStyle/>
          <a:p>
            <a:pPr>
              <a:defRPr sz="2800" b="1">
                <a:solidFill>
                  <a:srgbClr val="1A568E"/>
                </a:solidFill>
              </a:defRPr>
            </a:pPr>
            <a:r>
              <a:t>Image Sources</a:t>
            </a:r>
          </a:p>
        </p:txBody>
      </p:sp>
      <p:sp>
        <p:nvSpPr>
          <p:cNvPr id="4" name="Rectangle 3"/>
          <p:cNvSpPr/>
          <p:nvPr/>
        </p:nvSpPr>
        <p:spPr>
          <a:xfrm>
            <a:off x="502920" y="777240"/>
            <a:ext cx="8138160" cy="1828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ource_1.png"/>
          <p:cNvPicPr>
            <a:picLocks noChangeAspect="1"/>
          </p:cNvPicPr>
          <p:nvPr/>
        </p:nvPicPr>
        <p:blipFill>
          <a:blip r:embed="rId2"/>
          <a:stretch>
            <a:fillRect/>
          </a:stretch>
        </p:blipFill>
        <p:spPr>
          <a:xfrm>
            <a:off x="502920" y="960120"/>
            <a:ext cx="777240" cy="594360"/>
          </a:xfrm>
          <a:prstGeom prst="rect">
            <a:avLst/>
          </a:prstGeom>
        </p:spPr>
      </p:pic>
      <p:sp>
        <p:nvSpPr>
          <p:cNvPr id="6" name="TextBox 5"/>
          <p:cNvSpPr txBox="1"/>
          <p:nvPr/>
        </p:nvSpPr>
        <p:spPr>
          <a:xfrm>
            <a:off x="1417320" y="960120"/>
            <a:ext cx="7223760" cy="594360"/>
          </a:xfrm>
          <a:prstGeom prst="rect">
            <a:avLst/>
          </a:prstGeom>
          <a:noFill/>
        </p:spPr>
        <p:txBody>
          <a:bodyPr wrap="square">
            <a:spAutoFit/>
          </a:bodyPr>
          <a:lstStyle/>
          <a:p>
            <a:pPr>
              <a:defRPr sz="1000">
                <a:solidFill>
                  <a:srgbClr val="2C3E50"/>
                </a:solidFill>
              </a:defRPr>
            </a:pPr>
            <a:r>
              <a:t>https://images.ctfassets.net/go54bjdzbrgi/fNuDew3tlWg2OOywYOIKM/ebef71a9e739dd33efc5297dce42034c/Pix4D_construction_surveys_BIM000b.jpg</a:t>
            </a:r>
          </a:p>
          <a:p>
            <a:pPr>
              <a:defRPr sz="1000">
                <a:solidFill>
                  <a:srgbClr val="2E86C1"/>
                </a:solidFill>
              </a:defRPr>
            </a:pPr>
            <a:r>
              <a:t>Source: www.pix4d.com</a:t>
            </a:r>
          </a:p>
        </p:txBody>
      </p:sp>
      <p:pic>
        <p:nvPicPr>
          <p:cNvPr id="7" name="Picture 6" descr="source_2.png"/>
          <p:cNvPicPr>
            <a:picLocks noChangeAspect="1"/>
          </p:cNvPicPr>
          <p:nvPr/>
        </p:nvPicPr>
        <p:blipFill>
          <a:blip r:embed="rId3"/>
          <a:stretch>
            <a:fillRect/>
          </a:stretch>
        </p:blipFill>
        <p:spPr>
          <a:xfrm>
            <a:off x="502920" y="1828800"/>
            <a:ext cx="777240" cy="594360"/>
          </a:xfrm>
          <a:prstGeom prst="rect">
            <a:avLst/>
          </a:prstGeom>
        </p:spPr>
      </p:pic>
      <p:sp>
        <p:nvSpPr>
          <p:cNvPr id="8" name="TextBox 7"/>
          <p:cNvSpPr txBox="1"/>
          <p:nvPr/>
        </p:nvSpPr>
        <p:spPr>
          <a:xfrm>
            <a:off x="1417320" y="1828800"/>
            <a:ext cx="7223760" cy="594360"/>
          </a:xfrm>
          <a:prstGeom prst="rect">
            <a:avLst/>
          </a:prstGeom>
          <a:noFill/>
        </p:spPr>
        <p:txBody>
          <a:bodyPr wrap="square">
            <a:spAutoFit/>
          </a:bodyPr>
          <a:lstStyle/>
          <a:p>
            <a:pPr>
              <a:defRPr sz="1000">
                <a:solidFill>
                  <a:srgbClr val="2C3E50"/>
                </a:solidFill>
              </a:defRPr>
            </a:pPr>
            <a:r>
              <a:t>https://encyclopedia.pub/media/item_content/202305/646d59f4dc53aelectronics-12-02150-g001.png</a:t>
            </a:r>
          </a:p>
          <a:p>
            <a:pPr>
              <a:defRPr sz="1000">
                <a:solidFill>
                  <a:srgbClr val="2E86C1"/>
                </a:solidFill>
              </a:defRPr>
            </a:pPr>
            <a:r>
              <a:t>Source: encyclopedia.pub</a:t>
            </a:r>
          </a:p>
        </p:txBody>
      </p:sp>
      <p:pic>
        <p:nvPicPr>
          <p:cNvPr id="9" name="Picture 8" descr="source_3.png"/>
          <p:cNvPicPr>
            <a:picLocks noChangeAspect="1"/>
          </p:cNvPicPr>
          <p:nvPr/>
        </p:nvPicPr>
        <p:blipFill>
          <a:blip r:embed="rId4"/>
          <a:stretch>
            <a:fillRect/>
          </a:stretch>
        </p:blipFill>
        <p:spPr>
          <a:xfrm>
            <a:off x="502920" y="2697480"/>
            <a:ext cx="777240" cy="594360"/>
          </a:xfrm>
          <a:prstGeom prst="rect">
            <a:avLst/>
          </a:prstGeom>
        </p:spPr>
      </p:pic>
      <p:sp>
        <p:nvSpPr>
          <p:cNvPr id="10" name="TextBox 9"/>
          <p:cNvSpPr txBox="1"/>
          <p:nvPr/>
        </p:nvSpPr>
        <p:spPr>
          <a:xfrm>
            <a:off x="1417320" y="2697480"/>
            <a:ext cx="7223760" cy="594360"/>
          </a:xfrm>
          <a:prstGeom prst="rect">
            <a:avLst/>
          </a:prstGeom>
          <a:noFill/>
        </p:spPr>
        <p:txBody>
          <a:bodyPr wrap="square">
            <a:spAutoFit/>
          </a:bodyPr>
          <a:lstStyle/>
          <a:p>
            <a:pPr>
              <a:defRPr sz="1000">
                <a:solidFill>
                  <a:srgbClr val="2C3E50"/>
                </a:solidFill>
              </a:defRPr>
            </a:pPr>
            <a:r>
              <a:t>https://pub.mdpi-res.com/data/data-08-00149/article_deploy/html/images/data-08-00149-g003.png?1696669431</a:t>
            </a:r>
          </a:p>
          <a:p>
            <a:pPr>
              <a:defRPr sz="1000">
                <a:solidFill>
                  <a:srgbClr val="2E86C1"/>
                </a:solidFill>
              </a:defRPr>
            </a:pPr>
            <a:r>
              <a:t>Source: www.mdpi.com</a:t>
            </a:r>
          </a:p>
        </p:txBody>
      </p:sp>
      <p:pic>
        <p:nvPicPr>
          <p:cNvPr id="11" name="Picture 10" descr="source_4.png"/>
          <p:cNvPicPr>
            <a:picLocks noChangeAspect="1"/>
          </p:cNvPicPr>
          <p:nvPr/>
        </p:nvPicPr>
        <p:blipFill>
          <a:blip r:embed="rId5"/>
          <a:stretch>
            <a:fillRect/>
          </a:stretch>
        </p:blipFill>
        <p:spPr>
          <a:xfrm>
            <a:off x="502920" y="3566159"/>
            <a:ext cx="777240" cy="594360"/>
          </a:xfrm>
          <a:prstGeom prst="rect">
            <a:avLst/>
          </a:prstGeom>
        </p:spPr>
      </p:pic>
      <p:sp>
        <p:nvSpPr>
          <p:cNvPr id="12" name="TextBox 11"/>
          <p:cNvSpPr txBox="1"/>
          <p:nvPr/>
        </p:nvSpPr>
        <p:spPr>
          <a:xfrm>
            <a:off x="1417320" y="3566159"/>
            <a:ext cx="7223760" cy="594360"/>
          </a:xfrm>
          <a:prstGeom prst="rect">
            <a:avLst/>
          </a:prstGeom>
          <a:noFill/>
        </p:spPr>
        <p:txBody>
          <a:bodyPr wrap="square">
            <a:spAutoFit/>
          </a:bodyPr>
          <a:lstStyle/>
          <a:p>
            <a:pPr>
              <a:defRPr sz="1000">
                <a:solidFill>
                  <a:srgbClr val="2C3E50"/>
                </a:solidFill>
              </a:defRPr>
            </a:pPr>
            <a:r>
              <a:t>https://miro.medium.com/1*BXhxw5NzWR40y-7bPupwFQ.gif</a:t>
            </a:r>
          </a:p>
          <a:p>
            <a:pPr>
              <a:defRPr sz="1000">
                <a:solidFill>
                  <a:srgbClr val="2E86C1"/>
                </a:solidFill>
              </a:defRPr>
            </a:pPr>
            <a:r>
              <a:t>Source: medium.com</a:t>
            </a:r>
          </a:p>
        </p:txBody>
      </p:sp>
      <p:pic>
        <p:nvPicPr>
          <p:cNvPr id="13" name="Picture 12" descr="source_5.png"/>
          <p:cNvPicPr>
            <a:picLocks noChangeAspect="1"/>
          </p:cNvPicPr>
          <p:nvPr/>
        </p:nvPicPr>
        <p:blipFill>
          <a:blip r:embed="rId6"/>
          <a:stretch>
            <a:fillRect/>
          </a:stretch>
        </p:blipFill>
        <p:spPr>
          <a:xfrm>
            <a:off x="502920" y="4434840"/>
            <a:ext cx="777240" cy="594360"/>
          </a:xfrm>
          <a:prstGeom prst="rect">
            <a:avLst/>
          </a:prstGeom>
        </p:spPr>
      </p:pic>
      <p:sp>
        <p:nvSpPr>
          <p:cNvPr id="14" name="TextBox 13"/>
          <p:cNvSpPr txBox="1"/>
          <p:nvPr/>
        </p:nvSpPr>
        <p:spPr>
          <a:xfrm>
            <a:off x="1417320" y="4434840"/>
            <a:ext cx="7223760" cy="594360"/>
          </a:xfrm>
          <a:prstGeom prst="rect">
            <a:avLst/>
          </a:prstGeom>
          <a:noFill/>
        </p:spPr>
        <p:txBody>
          <a:bodyPr wrap="square">
            <a:spAutoFit/>
          </a:bodyPr>
          <a:lstStyle/>
          <a:p>
            <a:pPr>
              <a:defRPr sz="1000">
                <a:solidFill>
                  <a:srgbClr val="2C3E50"/>
                </a:solidFill>
              </a:defRPr>
            </a:pPr>
            <a:r>
              <a:t>https://s3.amazonaws.com/cdn.freshdesk.com/data/helpdesk/attachments/production/31031488770/original/X0DU_HOQZQaJZM4IKhMq8fayBmTfvmULkw.png?1623162812</a:t>
            </a:r>
          </a:p>
          <a:p>
            <a:pPr>
              <a:defRPr sz="1000">
                <a:solidFill>
                  <a:srgbClr val="2E86C1"/>
                </a:solidFill>
              </a:defRPr>
            </a:pPr>
            <a:r>
              <a:t>Source: agisoft.freshdesk.com</a:t>
            </a:r>
          </a:p>
        </p:txBody>
      </p:sp>
      <p:pic>
        <p:nvPicPr>
          <p:cNvPr id="15" name="Picture 14" descr="source_6.png"/>
          <p:cNvPicPr>
            <a:picLocks noChangeAspect="1"/>
          </p:cNvPicPr>
          <p:nvPr/>
        </p:nvPicPr>
        <p:blipFill>
          <a:blip r:embed="rId7"/>
          <a:stretch>
            <a:fillRect/>
          </a:stretch>
        </p:blipFill>
        <p:spPr>
          <a:xfrm>
            <a:off x="502920" y="5303520"/>
            <a:ext cx="777240" cy="594360"/>
          </a:xfrm>
          <a:prstGeom prst="rect">
            <a:avLst/>
          </a:prstGeom>
        </p:spPr>
      </p:pic>
      <p:sp>
        <p:nvSpPr>
          <p:cNvPr id="16" name="TextBox 15"/>
          <p:cNvSpPr txBox="1"/>
          <p:nvPr/>
        </p:nvSpPr>
        <p:spPr>
          <a:xfrm>
            <a:off x="1417320" y="5303520"/>
            <a:ext cx="7223760" cy="594360"/>
          </a:xfrm>
          <a:prstGeom prst="rect">
            <a:avLst/>
          </a:prstGeom>
          <a:noFill/>
        </p:spPr>
        <p:txBody>
          <a:bodyPr wrap="square">
            <a:spAutoFit/>
          </a:bodyPr>
          <a:lstStyle/>
          <a:p>
            <a:pPr>
              <a:defRPr sz="1000">
                <a:solidFill>
                  <a:srgbClr val="2C3E50"/>
                </a:solidFill>
              </a:defRPr>
            </a:pPr>
            <a:r>
              <a:t>https://segments.ai/wp-content/uploads/2024/02/Mastering-point-clouds-data.jpg</a:t>
            </a:r>
          </a:p>
          <a:p>
            <a:pPr>
              <a:defRPr sz="1000">
                <a:solidFill>
                  <a:srgbClr val="2E86C1"/>
                </a:solidFill>
              </a:defRPr>
            </a:pPr>
            <a:r>
              <a:t>Source: segments.ai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A56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8138160" cy="502920"/>
          </a:xfrm>
          <a:prstGeom prst="rect">
            <a:avLst/>
          </a:prstGeom>
          <a:noFill/>
        </p:spPr>
        <p:txBody>
          <a:bodyPr wrap="none">
            <a:spAutoFit/>
          </a:bodyPr>
          <a:lstStyle/>
          <a:p>
            <a:pPr>
              <a:defRPr sz="2800" b="1">
                <a:solidFill>
                  <a:srgbClr val="1A568E"/>
                </a:solidFill>
              </a:defRPr>
            </a:pPr>
            <a:r>
              <a:t>Image Sources</a:t>
            </a:r>
          </a:p>
        </p:txBody>
      </p:sp>
      <p:sp>
        <p:nvSpPr>
          <p:cNvPr id="4" name="Rectangle 3"/>
          <p:cNvSpPr/>
          <p:nvPr/>
        </p:nvSpPr>
        <p:spPr>
          <a:xfrm>
            <a:off x="502920" y="777240"/>
            <a:ext cx="8138160" cy="1828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ource_7.png"/>
          <p:cNvPicPr>
            <a:picLocks noChangeAspect="1"/>
          </p:cNvPicPr>
          <p:nvPr/>
        </p:nvPicPr>
        <p:blipFill>
          <a:blip r:embed="rId2"/>
          <a:stretch>
            <a:fillRect/>
          </a:stretch>
        </p:blipFill>
        <p:spPr>
          <a:xfrm>
            <a:off x="502920" y="1371600"/>
            <a:ext cx="777240" cy="594360"/>
          </a:xfrm>
          <a:prstGeom prst="rect">
            <a:avLst/>
          </a:prstGeom>
        </p:spPr>
      </p:pic>
      <p:sp>
        <p:nvSpPr>
          <p:cNvPr id="6" name="TextBox 5"/>
          <p:cNvSpPr txBox="1"/>
          <p:nvPr/>
        </p:nvSpPr>
        <p:spPr>
          <a:xfrm>
            <a:off x="1417320" y="1371600"/>
            <a:ext cx="7223760" cy="731520"/>
          </a:xfrm>
          <a:prstGeom prst="rect">
            <a:avLst/>
          </a:prstGeom>
          <a:noFill/>
        </p:spPr>
        <p:txBody>
          <a:bodyPr wrap="none">
            <a:spAutoFit/>
          </a:bodyPr>
          <a:lstStyle/>
          <a:p>
            <a:pPr>
              <a:defRPr sz="1100">
                <a:solidFill>
                  <a:srgbClr val="2C3E50"/>
                </a:solidFill>
              </a:defRPr>
            </a:pPr>
            <a:r>
              <a:t>https://aecmag.com/wp-content/uploads/2023/03/beforeclean1500-1024x587.jpg</a:t>
            </a:r>
          </a:p>
          <a:p>
            <a:pPr>
              <a:defRPr sz="1100">
                <a:solidFill>
                  <a:srgbClr val="2E86C1"/>
                </a:solidFill>
              </a:defRPr>
            </a:pPr>
            <a:r>
              <a:t>Source: aecmag.com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